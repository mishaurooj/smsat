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2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2920" cy="11063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2920" cy="11063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-381240" y="1022400"/>
            <a:ext cx="4298760" cy="10972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7" name="CustomShape 2"/>
          <p:cNvSpPr/>
          <p:nvPr/>
        </p:nvSpPr>
        <p:spPr>
          <a:xfrm>
            <a:off x="-267480" y="631440"/>
            <a:ext cx="4235760" cy="33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Acoustic Time Series Signal Acquisition Device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78" name="Picture 2" descr="Free Microphone SVG, PNG Icon, Symbol. Download Image."/>
          <p:cNvPicPr/>
          <p:nvPr/>
        </p:nvPicPr>
        <p:blipFill>
          <a:blip r:embed="rId2"/>
          <a:stretch/>
        </p:blipFill>
        <p:spPr>
          <a:xfrm>
            <a:off x="-502920" y="1022400"/>
            <a:ext cx="1097280" cy="1097280"/>
          </a:xfrm>
          <a:prstGeom prst="rect">
            <a:avLst/>
          </a:prstGeom>
          <a:ln>
            <a:noFill/>
          </a:ln>
        </p:spPr>
      </p:pic>
      <p:pic>
        <p:nvPicPr>
          <p:cNvPr id="79" name="Picture 4" descr="Stethoscope&quot; Icon - Download for free – Iconduck"/>
          <p:cNvPicPr/>
          <p:nvPr/>
        </p:nvPicPr>
        <p:blipFill>
          <a:blip r:embed="rId3"/>
          <a:stretch/>
        </p:blipFill>
        <p:spPr>
          <a:xfrm>
            <a:off x="650880" y="1114560"/>
            <a:ext cx="912600" cy="913320"/>
          </a:xfrm>
          <a:prstGeom prst="rect">
            <a:avLst/>
          </a:prstGeom>
          <a:ln>
            <a:noFill/>
          </a:ln>
        </p:spPr>
      </p:pic>
      <p:pic>
        <p:nvPicPr>
          <p:cNvPr id="80" name="Picture 6" descr="Sound card - Free electronics icons"/>
          <p:cNvPicPr/>
          <p:nvPr/>
        </p:nvPicPr>
        <p:blipFill>
          <a:blip r:embed="rId4"/>
          <a:stretch/>
        </p:blipFill>
        <p:spPr>
          <a:xfrm>
            <a:off x="1850760" y="1088280"/>
            <a:ext cx="913320" cy="913320"/>
          </a:xfrm>
          <a:prstGeom prst="rect">
            <a:avLst/>
          </a:prstGeom>
          <a:ln>
            <a:noFill/>
          </a:ln>
        </p:spPr>
      </p:pic>
      <p:pic>
        <p:nvPicPr>
          <p:cNvPr id="81" name="Picture 8" descr="Laptop - Free computer icons"/>
          <p:cNvPicPr/>
          <p:nvPr/>
        </p:nvPicPr>
        <p:blipFill>
          <a:blip r:embed="rId5"/>
          <a:stretch/>
        </p:blipFill>
        <p:spPr>
          <a:xfrm>
            <a:off x="3004200" y="1114560"/>
            <a:ext cx="913320" cy="913320"/>
          </a:xfrm>
          <a:prstGeom prst="rect">
            <a:avLst/>
          </a:prstGeom>
          <a:ln>
            <a:noFill/>
          </a:ln>
        </p:spPr>
      </p:pic>
      <p:sp>
        <p:nvSpPr>
          <p:cNvPr id="82" name="CustomShape 3"/>
          <p:cNvSpPr/>
          <p:nvPr/>
        </p:nvSpPr>
        <p:spPr>
          <a:xfrm>
            <a:off x="4438440" y="522360"/>
            <a:ext cx="217512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Normal (Silence) - NS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83" name="CustomShape 4"/>
          <p:cNvSpPr/>
          <p:nvPr/>
        </p:nvSpPr>
        <p:spPr>
          <a:xfrm>
            <a:off x="4438440" y="1256400"/>
            <a:ext cx="147060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Music - M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84" name="CustomShape 5"/>
          <p:cNvSpPr/>
          <p:nvPr/>
        </p:nvSpPr>
        <p:spPr>
          <a:xfrm>
            <a:off x="4420080" y="2019600"/>
            <a:ext cx="243216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Tilawat-e-QuranPak -TQ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85" name="CustomShape 6"/>
          <p:cNvSpPr/>
          <p:nvPr/>
        </p:nvSpPr>
        <p:spPr>
          <a:xfrm flipV="1">
            <a:off x="3918600" y="807480"/>
            <a:ext cx="509400" cy="760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6" name="CustomShape 7"/>
          <p:cNvSpPr/>
          <p:nvPr/>
        </p:nvSpPr>
        <p:spPr>
          <a:xfrm flipV="1">
            <a:off x="3918600" y="1544760"/>
            <a:ext cx="51840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" name="CustomShape 8"/>
          <p:cNvSpPr/>
          <p:nvPr/>
        </p:nvSpPr>
        <p:spPr>
          <a:xfrm>
            <a:off x="3918600" y="1571760"/>
            <a:ext cx="518400" cy="73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8" name="CustomShape 9"/>
          <p:cNvSpPr/>
          <p:nvPr/>
        </p:nvSpPr>
        <p:spPr>
          <a:xfrm>
            <a:off x="7310160" y="1301760"/>
            <a:ext cx="3039480" cy="3639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Validation of Recorded Signals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89" name="CustomShape 10"/>
          <p:cNvSpPr/>
          <p:nvPr/>
        </p:nvSpPr>
        <p:spPr>
          <a:xfrm>
            <a:off x="6881040" y="470880"/>
            <a:ext cx="246600" cy="1932120"/>
          </a:xfrm>
          <a:prstGeom prst="rightBrace">
            <a:avLst>
              <a:gd name="adj1" fmla="val 8333"/>
              <a:gd name="adj2" fmla="val 50000"/>
            </a:avLst>
          </a:prstGeom>
          <a:noFill/>
          <a:ln/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0" name="CustomShape 11"/>
          <p:cNvSpPr/>
          <p:nvPr/>
        </p:nvSpPr>
        <p:spPr>
          <a:xfrm>
            <a:off x="-5294160" y="3277080"/>
            <a:ext cx="10778400" cy="199044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1" name="CustomShape 12"/>
          <p:cNvSpPr/>
          <p:nvPr/>
        </p:nvSpPr>
        <p:spPr>
          <a:xfrm>
            <a:off x="10468800" y="305280"/>
            <a:ext cx="2402640" cy="233856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Data Augmentation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92" name="CustomShape 13"/>
          <p:cNvSpPr/>
          <p:nvPr/>
        </p:nvSpPr>
        <p:spPr>
          <a:xfrm flipV="1">
            <a:off x="10368360" y="1473480"/>
            <a:ext cx="99360" cy="10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3" name="CustomShape 14"/>
          <p:cNvSpPr/>
          <p:nvPr/>
        </p:nvSpPr>
        <p:spPr>
          <a:xfrm>
            <a:off x="10766880" y="69876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Gaussian noise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4" name="CustomShape 15"/>
          <p:cNvSpPr/>
          <p:nvPr/>
        </p:nvSpPr>
        <p:spPr>
          <a:xfrm>
            <a:off x="10766880" y="113832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Time stretching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5" name="CustomShape 16"/>
          <p:cNvSpPr/>
          <p:nvPr/>
        </p:nvSpPr>
        <p:spPr>
          <a:xfrm>
            <a:off x="10766880" y="155988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Pitch shifting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6" name="CustomShape 17"/>
          <p:cNvSpPr/>
          <p:nvPr/>
        </p:nvSpPr>
        <p:spPr>
          <a:xfrm>
            <a:off x="10766880" y="2018880"/>
            <a:ext cx="1805760" cy="5536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Frequency &amp; time masking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7" name="CustomShape 18"/>
          <p:cNvSpPr/>
          <p:nvPr/>
        </p:nvSpPr>
        <p:spPr>
          <a:xfrm>
            <a:off x="-819720" y="2844720"/>
            <a:ext cx="25988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QSMAT ATS Encoder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98" name="CustomShape 19"/>
          <p:cNvSpPr/>
          <p:nvPr/>
        </p:nvSpPr>
        <p:spPr>
          <a:xfrm>
            <a:off x="-5014080" y="3399120"/>
            <a:ext cx="419400" cy="1792800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Mel spectrogram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99" name="CustomShape 20"/>
          <p:cNvSpPr/>
          <p:nvPr/>
        </p:nvSpPr>
        <p:spPr>
          <a:xfrm>
            <a:off x="-4408560" y="3428640"/>
            <a:ext cx="419400" cy="1792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Spectrogram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0" name="CustomShape 21"/>
          <p:cNvSpPr/>
          <p:nvPr/>
        </p:nvSpPr>
        <p:spPr>
          <a:xfrm>
            <a:off x="-3768120" y="3428640"/>
            <a:ext cx="419400" cy="179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MelScale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1" name="CustomShape 22"/>
          <p:cNvSpPr/>
          <p:nvPr/>
        </p:nvSpPr>
        <p:spPr>
          <a:xfrm>
            <a:off x="-564120" y="3447360"/>
            <a:ext cx="419400" cy="1736280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MaxPool2d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2" name="CustomShape 23"/>
          <p:cNvSpPr/>
          <p:nvPr/>
        </p:nvSpPr>
        <p:spPr>
          <a:xfrm>
            <a:off x="-2480760" y="3447360"/>
            <a:ext cx="419400" cy="1736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Conv2d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3" name="CustomShape 24"/>
          <p:cNvSpPr/>
          <p:nvPr/>
        </p:nvSpPr>
        <p:spPr>
          <a:xfrm>
            <a:off x="-1892160" y="3447360"/>
            <a:ext cx="419400" cy="1736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BatchNorm2d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4" name="CustomShape 25"/>
          <p:cNvSpPr/>
          <p:nvPr/>
        </p:nvSpPr>
        <p:spPr>
          <a:xfrm>
            <a:off x="-1239840" y="3447360"/>
            <a:ext cx="419400" cy="1736280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ReLU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5" name="CustomShape 26"/>
          <p:cNvSpPr/>
          <p:nvPr/>
        </p:nvSpPr>
        <p:spPr>
          <a:xfrm>
            <a:off x="-3101040" y="3447360"/>
            <a:ext cx="419400" cy="1736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Audio to db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6" name="CustomShape 27"/>
          <p:cNvSpPr/>
          <p:nvPr/>
        </p:nvSpPr>
        <p:spPr>
          <a:xfrm>
            <a:off x="63720" y="3447360"/>
            <a:ext cx="419400" cy="173628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7" name="CustomShape 28"/>
          <p:cNvSpPr/>
          <p:nvPr/>
        </p:nvSpPr>
        <p:spPr>
          <a:xfrm>
            <a:off x="691200" y="3447360"/>
            <a:ext cx="419400" cy="1736280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8" name="CustomShape 29"/>
          <p:cNvSpPr/>
          <p:nvPr/>
        </p:nvSpPr>
        <p:spPr>
          <a:xfrm>
            <a:off x="1243800" y="3447360"/>
            <a:ext cx="419400" cy="1736280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09" name="CustomShape 30"/>
          <p:cNvSpPr/>
          <p:nvPr/>
        </p:nvSpPr>
        <p:spPr>
          <a:xfrm>
            <a:off x="5655600" y="3134520"/>
            <a:ext cx="10463760" cy="251352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0" name="CustomShape 31"/>
          <p:cNvSpPr/>
          <p:nvPr/>
        </p:nvSpPr>
        <p:spPr>
          <a:xfrm>
            <a:off x="1796760" y="3447360"/>
            <a:ext cx="419400" cy="1736280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11" name="CustomShape 32"/>
          <p:cNvSpPr/>
          <p:nvPr/>
        </p:nvSpPr>
        <p:spPr>
          <a:xfrm>
            <a:off x="2349360" y="3447360"/>
            <a:ext cx="519840" cy="1736280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AdaptiveAvgPool2d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12" name="CustomShape 33"/>
          <p:cNvSpPr/>
          <p:nvPr/>
        </p:nvSpPr>
        <p:spPr>
          <a:xfrm>
            <a:off x="3002760" y="3447360"/>
            <a:ext cx="389160" cy="1736280"/>
          </a:xfrm>
          <a:prstGeom prst="rect">
            <a:avLst/>
          </a:prstGeom>
          <a:solidFill>
            <a:schemeClr val="accent5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Linear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13" name="CustomShape 34"/>
          <p:cNvSpPr/>
          <p:nvPr/>
        </p:nvSpPr>
        <p:spPr>
          <a:xfrm>
            <a:off x="3579840" y="4056480"/>
            <a:ext cx="1805760" cy="37656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Class Embeddings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4" name="CustomShape 35"/>
          <p:cNvSpPr/>
          <p:nvPr/>
        </p:nvSpPr>
        <p:spPr>
          <a:xfrm>
            <a:off x="9973440" y="2750040"/>
            <a:ext cx="377856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Calmness Analysis Model - CAM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15" name="CustomShape 36"/>
          <p:cNvSpPr/>
          <p:nvPr/>
        </p:nvSpPr>
        <p:spPr>
          <a:xfrm>
            <a:off x="5741640" y="3349800"/>
            <a:ext cx="2051640" cy="14158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Class Mapping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 -0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NS-1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TQ- 2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16" name="CustomShape 37"/>
          <p:cNvSpPr/>
          <p:nvPr/>
        </p:nvSpPr>
        <p:spPr>
          <a:xfrm>
            <a:off x="8148240" y="3242520"/>
            <a:ext cx="2432160" cy="194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Feature Extraction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17" name="CustomShape 38"/>
          <p:cNvSpPr/>
          <p:nvPr/>
        </p:nvSpPr>
        <p:spPr>
          <a:xfrm>
            <a:off x="8489160" y="368064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MFCC 0-12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8" name="CustomShape 39"/>
          <p:cNvSpPr/>
          <p:nvPr/>
        </p:nvSpPr>
        <p:spPr>
          <a:xfrm>
            <a:off x="8489160" y="412560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ZCR + RMS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9" name="CustomShape 40"/>
          <p:cNvSpPr/>
          <p:nvPr/>
        </p:nvSpPr>
        <p:spPr>
          <a:xfrm>
            <a:off x="8489160" y="4577760"/>
            <a:ext cx="1805760" cy="484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Wavelet coefficients 0-10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20" name="CustomShape 41"/>
          <p:cNvSpPr/>
          <p:nvPr/>
        </p:nvSpPr>
        <p:spPr>
          <a:xfrm>
            <a:off x="10763640" y="3250080"/>
            <a:ext cx="4978080" cy="239796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21" name="CustomShape 42"/>
          <p:cNvSpPr/>
          <p:nvPr/>
        </p:nvSpPr>
        <p:spPr>
          <a:xfrm>
            <a:off x="11677680" y="3366360"/>
            <a:ext cx="370080" cy="2198160"/>
          </a:xfrm>
          <a:prstGeom prst="rect">
            <a:avLst/>
          </a:prstGeom>
          <a:solidFill>
            <a:srgbClr val="66FFF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LSTM (Bidirectional)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2" name="CustomShape 43"/>
          <p:cNvSpPr/>
          <p:nvPr/>
        </p:nvSpPr>
        <p:spPr>
          <a:xfrm>
            <a:off x="11151360" y="3349800"/>
            <a:ext cx="370080" cy="2198160"/>
          </a:xfrm>
          <a:prstGeom prst="rect">
            <a:avLst/>
          </a:prstGeom>
          <a:solidFill>
            <a:srgbClr val="CC00F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Input: [batch size, 25]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3" name="CustomShape 44"/>
          <p:cNvSpPr/>
          <p:nvPr/>
        </p:nvSpPr>
        <p:spPr>
          <a:xfrm>
            <a:off x="12204360" y="3366360"/>
            <a:ext cx="587520" cy="2198160"/>
          </a:xfrm>
          <a:prstGeom prst="rect">
            <a:avLst/>
          </a:prstGeom>
          <a:solidFill>
            <a:srgbClr val="CCCC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[batch size, 256] (LSTM output)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4" name="CustomShape 45"/>
          <p:cNvSpPr/>
          <p:nvPr/>
        </p:nvSpPr>
        <p:spPr>
          <a:xfrm>
            <a:off x="12920040" y="3366360"/>
            <a:ext cx="587520" cy="2198160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Fully Connected Layer 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5" name="CustomShape 46"/>
          <p:cNvSpPr/>
          <p:nvPr/>
        </p:nvSpPr>
        <p:spPr>
          <a:xfrm>
            <a:off x="13636080" y="3512520"/>
            <a:ext cx="419400" cy="1736280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ReLU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6" name="CustomShape 47"/>
          <p:cNvSpPr/>
          <p:nvPr/>
        </p:nvSpPr>
        <p:spPr>
          <a:xfrm>
            <a:off x="14199120" y="3512520"/>
            <a:ext cx="419400" cy="1736280"/>
          </a:xfrm>
          <a:prstGeom prst="rect">
            <a:avLst/>
          </a:prstGeom>
          <a:solidFill>
            <a:srgbClr val="CC33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Dropout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7" name="CustomShape 48"/>
          <p:cNvSpPr/>
          <p:nvPr/>
        </p:nvSpPr>
        <p:spPr>
          <a:xfrm>
            <a:off x="12926160" y="3366360"/>
            <a:ext cx="587520" cy="2198160"/>
          </a:xfrm>
          <a:prstGeom prst="rect">
            <a:avLst/>
          </a:prstGeom>
          <a:solidFill>
            <a:srgbClr val="FF5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Fully Connected Layer 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8" name="CustomShape 49"/>
          <p:cNvSpPr/>
          <p:nvPr/>
        </p:nvSpPr>
        <p:spPr>
          <a:xfrm>
            <a:off x="14822280" y="3349800"/>
            <a:ext cx="587520" cy="2198160"/>
          </a:xfrm>
          <a:prstGeom prst="rect">
            <a:avLst/>
          </a:prstGeom>
          <a:solidFill>
            <a:srgbClr val="9999F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Fully Connected Layer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29" name="CustomShape 50"/>
          <p:cNvSpPr/>
          <p:nvPr/>
        </p:nvSpPr>
        <p:spPr>
          <a:xfrm>
            <a:off x="-821880" y="2844360"/>
            <a:ext cx="25988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QSMAT ATS Encoder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30" name="CustomShape 51"/>
          <p:cNvSpPr/>
          <p:nvPr/>
        </p:nvSpPr>
        <p:spPr>
          <a:xfrm>
            <a:off x="3206880" y="5889960"/>
            <a:ext cx="48956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Calmness Evaluation using Pairwise T-tests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31" name="CustomShape 52"/>
          <p:cNvSpPr/>
          <p:nvPr/>
        </p:nvSpPr>
        <p:spPr>
          <a:xfrm>
            <a:off x="-2286000" y="6374520"/>
            <a:ext cx="15756480" cy="11880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2" name="CustomShape 53"/>
          <p:cNvSpPr/>
          <p:nvPr/>
        </p:nvSpPr>
        <p:spPr>
          <a:xfrm>
            <a:off x="-2160360" y="6807600"/>
            <a:ext cx="3964680" cy="404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Calculate mean of all 25 features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3" name="CustomShape 54"/>
          <p:cNvSpPr/>
          <p:nvPr/>
        </p:nvSpPr>
        <p:spPr>
          <a:xfrm>
            <a:off x="1983240" y="6604200"/>
            <a:ext cx="5020560" cy="7293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Compare all three distributions using ANOVA test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4" name="CustomShape 55"/>
          <p:cNvSpPr/>
          <p:nvPr/>
        </p:nvSpPr>
        <p:spPr>
          <a:xfrm>
            <a:off x="7182360" y="6585120"/>
            <a:ext cx="3851280" cy="811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Pairwise comparisons using T tests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5" name="CustomShape 56"/>
          <p:cNvSpPr/>
          <p:nvPr/>
        </p:nvSpPr>
        <p:spPr>
          <a:xfrm>
            <a:off x="11265840" y="6602040"/>
            <a:ext cx="1819440" cy="811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Calmest Class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1644120" y="1188000"/>
            <a:ext cx="4298760" cy="10972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7" name="CustomShape 2"/>
          <p:cNvSpPr/>
          <p:nvPr/>
        </p:nvSpPr>
        <p:spPr>
          <a:xfrm>
            <a:off x="-267480" y="631440"/>
            <a:ext cx="4235760" cy="33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Acoustic Time Series Signal Acquisition Device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138" name="Picture 2_1" descr="Free Microphone SVG, PNG Icon, Symbol. Download Image."/>
          <p:cNvPicPr/>
          <p:nvPr/>
        </p:nvPicPr>
        <p:blipFill>
          <a:blip r:embed="rId2"/>
          <a:stretch/>
        </p:blipFill>
        <p:spPr>
          <a:xfrm>
            <a:off x="-502920" y="1022400"/>
            <a:ext cx="1097280" cy="1097280"/>
          </a:xfrm>
          <a:prstGeom prst="rect">
            <a:avLst/>
          </a:prstGeom>
          <a:ln>
            <a:noFill/>
          </a:ln>
        </p:spPr>
      </p:pic>
      <p:pic>
        <p:nvPicPr>
          <p:cNvPr id="139" name="Picture 4_1" descr="Stethoscope&quot; Icon - Download for free – Iconduck"/>
          <p:cNvPicPr/>
          <p:nvPr/>
        </p:nvPicPr>
        <p:blipFill>
          <a:blip r:embed="rId3"/>
          <a:stretch/>
        </p:blipFill>
        <p:spPr>
          <a:xfrm>
            <a:off x="650880" y="1114560"/>
            <a:ext cx="912600" cy="913320"/>
          </a:xfrm>
          <a:prstGeom prst="rect">
            <a:avLst/>
          </a:prstGeom>
          <a:ln>
            <a:noFill/>
          </a:ln>
        </p:spPr>
      </p:pic>
      <p:pic>
        <p:nvPicPr>
          <p:cNvPr id="140" name="Picture 6_1" descr="Sound card - Free electronics icons"/>
          <p:cNvPicPr/>
          <p:nvPr/>
        </p:nvPicPr>
        <p:blipFill>
          <a:blip r:embed="rId4"/>
          <a:stretch/>
        </p:blipFill>
        <p:spPr>
          <a:xfrm>
            <a:off x="1850760" y="1088280"/>
            <a:ext cx="913320" cy="913320"/>
          </a:xfrm>
          <a:prstGeom prst="rect">
            <a:avLst/>
          </a:prstGeom>
          <a:ln>
            <a:noFill/>
          </a:ln>
        </p:spPr>
      </p:pic>
      <p:pic>
        <p:nvPicPr>
          <p:cNvPr id="141" name="Picture 8_1" descr="Laptop - Free computer icons"/>
          <p:cNvPicPr/>
          <p:nvPr/>
        </p:nvPicPr>
        <p:blipFill>
          <a:blip r:embed="rId5"/>
          <a:stretch/>
        </p:blipFill>
        <p:spPr>
          <a:xfrm>
            <a:off x="3004200" y="1114560"/>
            <a:ext cx="913320" cy="913320"/>
          </a:xfrm>
          <a:prstGeom prst="rect">
            <a:avLst/>
          </a:prstGeom>
          <a:ln>
            <a:noFill/>
          </a:ln>
        </p:spPr>
      </p:pic>
      <p:sp>
        <p:nvSpPr>
          <p:cNvPr id="142" name="CustomShape 3"/>
          <p:cNvSpPr/>
          <p:nvPr/>
        </p:nvSpPr>
        <p:spPr>
          <a:xfrm>
            <a:off x="4438440" y="522360"/>
            <a:ext cx="217512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Normal (Silence) - NS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4438440" y="1256400"/>
            <a:ext cx="147060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Music - M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44" name="CustomShape 5"/>
          <p:cNvSpPr/>
          <p:nvPr/>
        </p:nvSpPr>
        <p:spPr>
          <a:xfrm>
            <a:off x="4420080" y="2019600"/>
            <a:ext cx="243216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Tilawat-e-QuranPak -TQ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45" name="CustomShape 6"/>
          <p:cNvSpPr/>
          <p:nvPr/>
        </p:nvSpPr>
        <p:spPr>
          <a:xfrm flipV="1">
            <a:off x="3918600" y="807480"/>
            <a:ext cx="509400" cy="760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6" name="CustomShape 7"/>
          <p:cNvSpPr/>
          <p:nvPr/>
        </p:nvSpPr>
        <p:spPr>
          <a:xfrm flipV="1">
            <a:off x="3918600" y="1544760"/>
            <a:ext cx="51840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7" name="CustomShape 8"/>
          <p:cNvSpPr/>
          <p:nvPr/>
        </p:nvSpPr>
        <p:spPr>
          <a:xfrm>
            <a:off x="3918600" y="1571760"/>
            <a:ext cx="518400" cy="73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8" name="CustomShape 9"/>
          <p:cNvSpPr/>
          <p:nvPr/>
        </p:nvSpPr>
        <p:spPr>
          <a:xfrm>
            <a:off x="7310160" y="1301760"/>
            <a:ext cx="3039480" cy="3639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Validation of Recorded Signals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9" name="CustomShape 10"/>
          <p:cNvSpPr/>
          <p:nvPr/>
        </p:nvSpPr>
        <p:spPr>
          <a:xfrm>
            <a:off x="6881040" y="470880"/>
            <a:ext cx="246600" cy="1932120"/>
          </a:xfrm>
          <a:prstGeom prst="rightBrace">
            <a:avLst>
              <a:gd name="adj1" fmla="val 8333"/>
              <a:gd name="adj2" fmla="val 50000"/>
            </a:avLst>
          </a:prstGeom>
          <a:noFill/>
          <a:ln/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0" name="CustomShape 11"/>
          <p:cNvSpPr/>
          <p:nvPr/>
        </p:nvSpPr>
        <p:spPr>
          <a:xfrm>
            <a:off x="10468800" y="305280"/>
            <a:ext cx="2402640" cy="233856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Data Augmentation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51" name="CustomShape 12"/>
          <p:cNvSpPr/>
          <p:nvPr/>
        </p:nvSpPr>
        <p:spPr>
          <a:xfrm flipV="1">
            <a:off x="10368360" y="1473480"/>
            <a:ext cx="99360" cy="10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2" name="CustomShape 13"/>
          <p:cNvSpPr/>
          <p:nvPr/>
        </p:nvSpPr>
        <p:spPr>
          <a:xfrm>
            <a:off x="10766880" y="69876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Gaussian noise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3" name="CustomShape 14"/>
          <p:cNvSpPr/>
          <p:nvPr/>
        </p:nvSpPr>
        <p:spPr>
          <a:xfrm>
            <a:off x="10766880" y="113832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Time stretching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4" name="CustomShape 15"/>
          <p:cNvSpPr/>
          <p:nvPr/>
        </p:nvSpPr>
        <p:spPr>
          <a:xfrm>
            <a:off x="10766880" y="155988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Pitch shifting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5" name="CustomShape 16"/>
          <p:cNvSpPr/>
          <p:nvPr/>
        </p:nvSpPr>
        <p:spPr>
          <a:xfrm>
            <a:off x="10766880" y="2018880"/>
            <a:ext cx="1805760" cy="5536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Frequency &amp; time masking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6" name="CustomShape 17"/>
          <p:cNvSpPr/>
          <p:nvPr/>
        </p:nvSpPr>
        <p:spPr>
          <a:xfrm>
            <a:off x="-819720" y="2844720"/>
            <a:ext cx="25988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QSMAT ATS Encoder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57" name="CustomShape 18"/>
          <p:cNvSpPr/>
          <p:nvPr/>
        </p:nvSpPr>
        <p:spPr>
          <a:xfrm>
            <a:off x="-5014080" y="3399120"/>
            <a:ext cx="419400" cy="1792800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Mel spectrogram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8" name="CustomShape 19"/>
          <p:cNvSpPr/>
          <p:nvPr/>
        </p:nvSpPr>
        <p:spPr>
          <a:xfrm>
            <a:off x="-4408560" y="3428640"/>
            <a:ext cx="419400" cy="1792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Spectrogram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9" name="CustomShape 20"/>
          <p:cNvSpPr/>
          <p:nvPr/>
        </p:nvSpPr>
        <p:spPr>
          <a:xfrm>
            <a:off x="-3768120" y="3428640"/>
            <a:ext cx="419400" cy="179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MelScale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0" name="CustomShape 21"/>
          <p:cNvSpPr/>
          <p:nvPr/>
        </p:nvSpPr>
        <p:spPr>
          <a:xfrm>
            <a:off x="-564120" y="3447360"/>
            <a:ext cx="419400" cy="1736280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MaxPool2d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1" name="CustomShape 22"/>
          <p:cNvSpPr/>
          <p:nvPr/>
        </p:nvSpPr>
        <p:spPr>
          <a:xfrm>
            <a:off x="-2480760" y="3447360"/>
            <a:ext cx="419400" cy="1736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Conv2d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2" name="CustomShape 23"/>
          <p:cNvSpPr/>
          <p:nvPr/>
        </p:nvSpPr>
        <p:spPr>
          <a:xfrm>
            <a:off x="-1892160" y="3447360"/>
            <a:ext cx="419400" cy="1736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BatchNorm2d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3" name="CustomShape 24"/>
          <p:cNvSpPr/>
          <p:nvPr/>
        </p:nvSpPr>
        <p:spPr>
          <a:xfrm>
            <a:off x="-1239840" y="3447360"/>
            <a:ext cx="419400" cy="1736280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ReLU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4" name="CustomShape 25"/>
          <p:cNvSpPr/>
          <p:nvPr/>
        </p:nvSpPr>
        <p:spPr>
          <a:xfrm>
            <a:off x="-3101040" y="3447360"/>
            <a:ext cx="419400" cy="1736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Audio to db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5" name="CustomShape 26"/>
          <p:cNvSpPr/>
          <p:nvPr/>
        </p:nvSpPr>
        <p:spPr>
          <a:xfrm>
            <a:off x="63720" y="3447360"/>
            <a:ext cx="419400" cy="173628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6" name="CustomShape 27"/>
          <p:cNvSpPr/>
          <p:nvPr/>
        </p:nvSpPr>
        <p:spPr>
          <a:xfrm>
            <a:off x="691200" y="3447360"/>
            <a:ext cx="419400" cy="1736280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7" name="CustomShape 28"/>
          <p:cNvSpPr/>
          <p:nvPr/>
        </p:nvSpPr>
        <p:spPr>
          <a:xfrm>
            <a:off x="1243800" y="3447360"/>
            <a:ext cx="419400" cy="1736280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68" name="CustomShape 29"/>
          <p:cNvSpPr/>
          <p:nvPr/>
        </p:nvSpPr>
        <p:spPr>
          <a:xfrm>
            <a:off x="5655600" y="3134520"/>
            <a:ext cx="10463760" cy="251352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9" name="CustomShape 30"/>
          <p:cNvSpPr/>
          <p:nvPr/>
        </p:nvSpPr>
        <p:spPr>
          <a:xfrm>
            <a:off x="1796760" y="3447360"/>
            <a:ext cx="419400" cy="1736280"/>
          </a:xfrm>
          <a:prstGeom prst="rect">
            <a:avLst/>
          </a:prstGeom>
          <a:solidFill>
            <a:srgbClr val="92D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Sequential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0" name="CustomShape 31"/>
          <p:cNvSpPr/>
          <p:nvPr/>
        </p:nvSpPr>
        <p:spPr>
          <a:xfrm>
            <a:off x="2349360" y="3447360"/>
            <a:ext cx="519840" cy="1736280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AdaptiveAvgPool2d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1" name="CustomShape 32"/>
          <p:cNvSpPr/>
          <p:nvPr/>
        </p:nvSpPr>
        <p:spPr>
          <a:xfrm>
            <a:off x="3002760" y="3447360"/>
            <a:ext cx="389160" cy="1736280"/>
          </a:xfrm>
          <a:prstGeom prst="rect">
            <a:avLst/>
          </a:prstGeom>
          <a:solidFill>
            <a:schemeClr val="accent5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Linear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2" name="CustomShape 33"/>
          <p:cNvSpPr/>
          <p:nvPr/>
        </p:nvSpPr>
        <p:spPr>
          <a:xfrm>
            <a:off x="3579840" y="4056480"/>
            <a:ext cx="1805760" cy="37656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Class Embeddings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73" name="CustomShape 34"/>
          <p:cNvSpPr/>
          <p:nvPr/>
        </p:nvSpPr>
        <p:spPr>
          <a:xfrm>
            <a:off x="9973440" y="2750040"/>
            <a:ext cx="377856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Calmness Analysis Model - CAM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74" name="CustomShape 35"/>
          <p:cNvSpPr/>
          <p:nvPr/>
        </p:nvSpPr>
        <p:spPr>
          <a:xfrm>
            <a:off x="5741640" y="3349800"/>
            <a:ext cx="2051640" cy="14158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Class Mapping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M -0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NS-1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TQ- 2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75" name="CustomShape 36"/>
          <p:cNvSpPr/>
          <p:nvPr/>
        </p:nvSpPr>
        <p:spPr>
          <a:xfrm>
            <a:off x="8148240" y="3242520"/>
            <a:ext cx="2432160" cy="194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Feature Extraction</a:t>
            </a: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76" name="CustomShape 37"/>
          <p:cNvSpPr/>
          <p:nvPr/>
        </p:nvSpPr>
        <p:spPr>
          <a:xfrm>
            <a:off x="8489160" y="368064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MFCC 0-12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77" name="CustomShape 38"/>
          <p:cNvSpPr/>
          <p:nvPr/>
        </p:nvSpPr>
        <p:spPr>
          <a:xfrm>
            <a:off x="8489160" y="4125600"/>
            <a:ext cx="1805760" cy="376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ZCR + RMS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78" name="CustomShape 39"/>
          <p:cNvSpPr/>
          <p:nvPr/>
        </p:nvSpPr>
        <p:spPr>
          <a:xfrm>
            <a:off x="8489160" y="4577760"/>
            <a:ext cx="1805760" cy="48456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Wavelet coefficients 0-10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79" name="CustomShape 40"/>
          <p:cNvSpPr/>
          <p:nvPr/>
        </p:nvSpPr>
        <p:spPr>
          <a:xfrm>
            <a:off x="10763640" y="3250080"/>
            <a:ext cx="4978080" cy="239796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80" name="CustomShape 41"/>
          <p:cNvSpPr/>
          <p:nvPr/>
        </p:nvSpPr>
        <p:spPr>
          <a:xfrm>
            <a:off x="11677680" y="3366360"/>
            <a:ext cx="370080" cy="2198160"/>
          </a:xfrm>
          <a:prstGeom prst="rect">
            <a:avLst/>
          </a:prstGeom>
          <a:solidFill>
            <a:srgbClr val="66FFF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LSTM (Bidirectional)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1" name="CustomShape 42"/>
          <p:cNvSpPr/>
          <p:nvPr/>
        </p:nvSpPr>
        <p:spPr>
          <a:xfrm>
            <a:off x="11151360" y="3349800"/>
            <a:ext cx="370080" cy="2198160"/>
          </a:xfrm>
          <a:prstGeom prst="rect">
            <a:avLst/>
          </a:prstGeom>
          <a:solidFill>
            <a:srgbClr val="CC00F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Input: [batch size, 25]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2" name="CustomShape 43"/>
          <p:cNvSpPr/>
          <p:nvPr/>
        </p:nvSpPr>
        <p:spPr>
          <a:xfrm>
            <a:off x="12204360" y="3366360"/>
            <a:ext cx="587520" cy="2198160"/>
          </a:xfrm>
          <a:prstGeom prst="rect">
            <a:avLst/>
          </a:prstGeom>
          <a:solidFill>
            <a:srgbClr val="CCCC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[batch size, 256] (LSTM output)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3" name="CustomShape 44"/>
          <p:cNvSpPr/>
          <p:nvPr/>
        </p:nvSpPr>
        <p:spPr>
          <a:xfrm>
            <a:off x="12920040" y="3366360"/>
            <a:ext cx="587520" cy="2198160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Fully Connected Layer 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4" name="CustomShape 45"/>
          <p:cNvSpPr/>
          <p:nvPr/>
        </p:nvSpPr>
        <p:spPr>
          <a:xfrm>
            <a:off x="13636080" y="3512520"/>
            <a:ext cx="419400" cy="1736280"/>
          </a:xfrm>
          <a:prstGeom prst="rect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ReLU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5" name="CustomShape 46"/>
          <p:cNvSpPr/>
          <p:nvPr/>
        </p:nvSpPr>
        <p:spPr>
          <a:xfrm>
            <a:off x="14199120" y="3512520"/>
            <a:ext cx="419400" cy="1736280"/>
          </a:xfrm>
          <a:prstGeom prst="rect">
            <a:avLst/>
          </a:prstGeom>
          <a:solidFill>
            <a:srgbClr val="CC33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Dropout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6" name="CustomShape 47"/>
          <p:cNvSpPr/>
          <p:nvPr/>
        </p:nvSpPr>
        <p:spPr>
          <a:xfrm>
            <a:off x="12926160" y="3366360"/>
            <a:ext cx="587520" cy="2198160"/>
          </a:xfrm>
          <a:prstGeom prst="rect">
            <a:avLst/>
          </a:prstGeom>
          <a:solidFill>
            <a:srgbClr val="FF505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Fully Connected Layer 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7" name="CustomShape 48"/>
          <p:cNvSpPr/>
          <p:nvPr/>
        </p:nvSpPr>
        <p:spPr>
          <a:xfrm>
            <a:off x="14822280" y="3349800"/>
            <a:ext cx="587520" cy="2198160"/>
          </a:xfrm>
          <a:prstGeom prst="rect">
            <a:avLst/>
          </a:prstGeom>
          <a:solidFill>
            <a:srgbClr val="9999F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rot="5400000" vert="vert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Fully Connected Layer 2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88" name="CustomShape 49"/>
          <p:cNvSpPr/>
          <p:nvPr/>
        </p:nvSpPr>
        <p:spPr>
          <a:xfrm>
            <a:off x="-821880" y="2844360"/>
            <a:ext cx="25988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QSMAT ATS Encoder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89" name="CustomShape 50"/>
          <p:cNvSpPr/>
          <p:nvPr/>
        </p:nvSpPr>
        <p:spPr>
          <a:xfrm>
            <a:off x="3206880" y="5889960"/>
            <a:ext cx="48956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Calmness Evaluation using Pairwise T-tests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90" name="CustomShape 51"/>
          <p:cNvSpPr/>
          <p:nvPr/>
        </p:nvSpPr>
        <p:spPr>
          <a:xfrm>
            <a:off x="-2286000" y="6374520"/>
            <a:ext cx="15756480" cy="11880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1" name="CustomShape 52"/>
          <p:cNvSpPr/>
          <p:nvPr/>
        </p:nvSpPr>
        <p:spPr>
          <a:xfrm>
            <a:off x="-2160360" y="6807600"/>
            <a:ext cx="3964680" cy="404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Calculate mean of all 25 features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2" name="CustomShape 53"/>
          <p:cNvSpPr/>
          <p:nvPr/>
        </p:nvSpPr>
        <p:spPr>
          <a:xfrm>
            <a:off x="1983240" y="6604200"/>
            <a:ext cx="5020560" cy="7293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Compare all three distributions using ANOVA test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3" name="CustomShape 54"/>
          <p:cNvSpPr/>
          <p:nvPr/>
        </p:nvSpPr>
        <p:spPr>
          <a:xfrm>
            <a:off x="7182360" y="6585120"/>
            <a:ext cx="3851280" cy="811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Pairwise comparisons using T tests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94" name="CustomShape 55"/>
          <p:cNvSpPr/>
          <p:nvPr/>
        </p:nvSpPr>
        <p:spPr>
          <a:xfrm>
            <a:off x="11265840" y="6602040"/>
            <a:ext cx="1819440" cy="8110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Calmest Class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02429D7-7BF1-58B4-6FEE-E6952E20758E}"/>
              </a:ext>
            </a:extLst>
          </p:cNvPr>
          <p:cNvGrpSpPr/>
          <p:nvPr/>
        </p:nvGrpSpPr>
        <p:grpSpPr>
          <a:xfrm>
            <a:off x="1972535" y="74471"/>
            <a:ext cx="3418172" cy="1725118"/>
            <a:chOff x="1228256" y="61152"/>
            <a:chExt cx="3418172" cy="1725118"/>
          </a:xfrm>
        </p:grpSpPr>
        <p:sp>
          <p:nvSpPr>
            <p:cNvPr id="195" name="CustomShape 1"/>
            <p:cNvSpPr/>
            <p:nvPr/>
          </p:nvSpPr>
          <p:spPr>
            <a:xfrm>
              <a:off x="1228256" y="61152"/>
              <a:ext cx="3418172" cy="1725118"/>
            </a:xfrm>
            <a:prstGeom prst="rect">
              <a:avLst/>
            </a:prstGeom>
            <a:solidFill>
              <a:srgbClr val="5EB91E">
                <a:alpha val="10000"/>
              </a:srgbClr>
            </a:solidFill>
            <a:ln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 b="1"/>
            </a:p>
          </p:txBody>
        </p:sp>
        <p:sp>
          <p:nvSpPr>
            <p:cNvPr id="196" name="CustomShape 2"/>
            <p:cNvSpPr/>
            <p:nvPr/>
          </p:nvSpPr>
          <p:spPr>
            <a:xfrm>
              <a:off x="1351376" y="725352"/>
              <a:ext cx="3182843" cy="37916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b="1" strike="noStrike" spc="-1">
                  <a:solidFill>
                    <a:srgbClr val="000000"/>
                  </a:solidFill>
                  <a:latin typeface="Times New Roman"/>
                  <a:ea typeface="DejaVu Sans"/>
                </a:rPr>
                <a:t>Normal (Silence) - NS</a:t>
              </a:r>
              <a:endParaRPr lang="en-US" b="1" strike="noStrike" spc="-1">
                <a:latin typeface="Arial"/>
              </a:endParaRPr>
            </a:p>
          </p:txBody>
        </p:sp>
        <p:sp>
          <p:nvSpPr>
            <p:cNvPr id="197" name="CustomShape 3"/>
            <p:cNvSpPr/>
            <p:nvPr/>
          </p:nvSpPr>
          <p:spPr>
            <a:xfrm>
              <a:off x="1351376" y="237912"/>
              <a:ext cx="3182843" cy="379519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b="1" spc="-1" dirty="0">
                  <a:solidFill>
                    <a:srgbClr val="000000"/>
                  </a:solidFill>
                  <a:latin typeface="Time New Roman"/>
                </a:rPr>
                <a:t>Spiritual Meditation</a:t>
              </a:r>
              <a:endParaRPr lang="en-US" b="1" strike="noStrike" spc="-1" dirty="0">
                <a:latin typeface="Arial"/>
              </a:endParaRPr>
            </a:p>
          </p:txBody>
        </p:sp>
        <p:sp>
          <p:nvSpPr>
            <p:cNvPr id="198" name="CustomShape 4"/>
            <p:cNvSpPr/>
            <p:nvPr/>
          </p:nvSpPr>
          <p:spPr>
            <a:xfrm>
              <a:off x="1351376" y="1236552"/>
              <a:ext cx="3182843" cy="37916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b="1" strike="noStrike" spc="-1">
                  <a:solidFill>
                    <a:srgbClr val="000000"/>
                  </a:solidFill>
                  <a:latin typeface="Times New Roman"/>
                  <a:ea typeface="DejaVu Sans"/>
                </a:rPr>
                <a:t>Music - M</a:t>
              </a:r>
              <a:endParaRPr lang="en-US" b="1" strike="noStrike" spc="-1">
                <a:latin typeface="Arial"/>
              </a:endParaRPr>
            </a:p>
          </p:txBody>
        </p:sp>
      </p:grpSp>
      <p:pic>
        <p:nvPicPr>
          <p:cNvPr id="199" name="Picture 198"/>
          <p:cNvPicPr/>
          <p:nvPr/>
        </p:nvPicPr>
        <p:blipFill>
          <a:blip r:embed="rId2"/>
          <a:stretch/>
        </p:blipFill>
        <p:spPr>
          <a:xfrm>
            <a:off x="3012416" y="1910472"/>
            <a:ext cx="1068840" cy="849240"/>
          </a:xfrm>
          <a:prstGeom prst="rect">
            <a:avLst/>
          </a:prstGeom>
          <a:ln>
            <a:noFill/>
          </a:ln>
        </p:spPr>
      </p:pic>
      <p:sp>
        <p:nvSpPr>
          <p:cNvPr id="200" name="Lin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38160">
            <a:solidFill>
              <a:srgbClr val="3465A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b="1"/>
          </a:p>
        </p:txBody>
      </p:sp>
      <p:sp>
        <p:nvSpPr>
          <p:cNvPr id="201" name="CustomShape 6"/>
          <p:cNvSpPr/>
          <p:nvPr/>
        </p:nvSpPr>
        <p:spPr>
          <a:xfrm>
            <a:off x="620610" y="1929557"/>
            <a:ext cx="2114640" cy="398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Audio Stimuli</a:t>
            </a:r>
            <a:endParaRPr lang="en-US" b="1" strike="noStrike" spc="-1" dirty="0">
              <a:latin typeface="Arial"/>
            </a:endParaRPr>
          </a:p>
        </p:txBody>
      </p:sp>
      <p:pic>
        <p:nvPicPr>
          <p:cNvPr id="202" name="Picture 201"/>
          <p:cNvPicPr/>
          <p:nvPr/>
        </p:nvPicPr>
        <p:blipFill>
          <a:blip r:embed="rId3"/>
          <a:stretch/>
        </p:blipFill>
        <p:spPr>
          <a:xfrm>
            <a:off x="3851280" y="4322880"/>
            <a:ext cx="3043080" cy="2206800"/>
          </a:xfrm>
          <a:prstGeom prst="rect">
            <a:avLst/>
          </a:prstGeom>
          <a:ln>
            <a:noFill/>
          </a:ln>
        </p:spPr>
      </p:pic>
      <p:pic>
        <p:nvPicPr>
          <p:cNvPr id="203" name="Picture 202"/>
          <p:cNvPicPr/>
          <p:nvPr/>
        </p:nvPicPr>
        <p:blipFill>
          <a:blip r:embed="rId4"/>
          <a:stretch/>
        </p:blipFill>
        <p:spPr>
          <a:xfrm>
            <a:off x="177480" y="4353120"/>
            <a:ext cx="3192120" cy="2206800"/>
          </a:xfrm>
          <a:prstGeom prst="rect">
            <a:avLst/>
          </a:prstGeom>
          <a:ln>
            <a:noFill/>
          </a:ln>
        </p:spPr>
      </p:pic>
      <p:pic>
        <p:nvPicPr>
          <p:cNvPr id="204" name="Picture 203"/>
          <p:cNvPicPr/>
          <p:nvPr/>
        </p:nvPicPr>
        <p:blipFill>
          <a:blip r:embed="rId5"/>
          <a:stretch/>
        </p:blipFill>
        <p:spPr>
          <a:xfrm>
            <a:off x="541016" y="3075792"/>
            <a:ext cx="5735160" cy="1235520"/>
          </a:xfrm>
          <a:prstGeom prst="rect">
            <a:avLst/>
          </a:prstGeom>
          <a:ln>
            <a:noFill/>
          </a:ln>
        </p:spPr>
      </p:pic>
      <p:sp>
        <p:nvSpPr>
          <p:cNvPr id="205" name="Lin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38160">
            <a:solidFill>
              <a:srgbClr val="3465A4"/>
            </a:solidFill>
            <a:round/>
            <a:headEnd type="diamond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b="1"/>
          </a:p>
        </p:txBody>
      </p:sp>
      <p:sp>
        <p:nvSpPr>
          <p:cNvPr id="206" name="CustomShape 8"/>
          <p:cNvSpPr/>
          <p:nvPr/>
        </p:nvSpPr>
        <p:spPr>
          <a:xfrm>
            <a:off x="3263630" y="2671668"/>
            <a:ext cx="3648240" cy="39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Data Acquisition System</a:t>
            </a:r>
            <a:endParaRPr lang="en-US" b="1" strike="noStrike" spc="-1" dirty="0">
              <a:latin typeface="Arial"/>
            </a:endParaRPr>
          </a:p>
        </p:txBody>
      </p:sp>
      <p:sp>
        <p:nvSpPr>
          <p:cNvPr id="207" name="CustomShape 9"/>
          <p:cNvSpPr/>
          <p:nvPr/>
        </p:nvSpPr>
        <p:spPr>
          <a:xfrm>
            <a:off x="-61142" y="6478846"/>
            <a:ext cx="3901789" cy="34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(a) Data Acquisition</a:t>
            </a:r>
            <a:r>
              <a:rPr lang="en-US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System</a:t>
            </a:r>
            <a:endParaRPr lang="en-US" b="1" strike="noStrike" spc="-1" dirty="0">
              <a:latin typeface="Arial"/>
            </a:endParaRPr>
          </a:p>
        </p:txBody>
      </p:sp>
      <p:sp>
        <p:nvSpPr>
          <p:cNvPr id="208" name="CustomShape 10"/>
          <p:cNvSpPr/>
          <p:nvPr/>
        </p:nvSpPr>
        <p:spPr>
          <a:xfrm>
            <a:off x="3491774" y="6480135"/>
            <a:ext cx="4822752" cy="34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(b) Subject during Data Acquisition</a:t>
            </a:r>
            <a:endParaRPr lang="en-US" b="1" strike="noStrike" spc="-1" dirty="0">
              <a:latin typeface="Arial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B080660-E3A3-40A5-741A-F2443A3A8063}"/>
              </a:ext>
            </a:extLst>
          </p:cNvPr>
          <p:cNvCxnSpPr>
            <a:cxnSpLocks/>
            <a:stCxn id="195" idx="1"/>
            <a:endCxn id="199" idx="1"/>
          </p:cNvCxnSpPr>
          <p:nvPr/>
        </p:nvCxnSpPr>
        <p:spPr>
          <a:xfrm rot="10800000" flipH="1" flipV="1">
            <a:off x="1972534" y="937030"/>
            <a:ext cx="1039881" cy="1398062"/>
          </a:xfrm>
          <a:prstGeom prst="bentConnector3">
            <a:avLst>
              <a:gd name="adj1" fmla="val -131388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2225D16-BD08-6C75-75E3-55D06CB5DB2F}"/>
              </a:ext>
            </a:extLst>
          </p:cNvPr>
          <p:cNvCxnSpPr>
            <a:stCxn id="199" idx="3"/>
            <a:endCxn id="204" idx="3"/>
          </p:cNvCxnSpPr>
          <p:nvPr/>
        </p:nvCxnSpPr>
        <p:spPr>
          <a:xfrm>
            <a:off x="4081256" y="2335092"/>
            <a:ext cx="2194920" cy="1358460"/>
          </a:xfrm>
          <a:prstGeom prst="bentConnector3">
            <a:avLst>
              <a:gd name="adj1" fmla="val 120103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be 6">
            <a:extLst>
              <a:ext uri="{FF2B5EF4-FFF2-40B4-BE49-F238E27FC236}">
                <a16:creationId xmlns:a16="http://schemas.microsoft.com/office/drawing/2014/main" id="{F5312981-D5F4-57AE-E655-519C95281B42}"/>
              </a:ext>
            </a:extLst>
          </p:cNvPr>
          <p:cNvSpPr/>
          <p:nvPr/>
        </p:nvSpPr>
        <p:spPr>
          <a:xfrm>
            <a:off x="6048254" y="1994832"/>
            <a:ext cx="846106" cy="651510"/>
          </a:xfrm>
          <a:prstGeom prst="cube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Line 15"/>
          <p:cNvSpPr/>
          <p:nvPr/>
        </p:nvSpPr>
        <p:spPr>
          <a:xfrm>
            <a:off x="-287079" y="0"/>
            <a:ext cx="369" cy="446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ctr"/>
            <a:endParaRPr lang="en-US" sz="2200" b="1"/>
          </a:p>
        </p:txBody>
      </p:sp>
      <p:sp>
        <p:nvSpPr>
          <p:cNvPr id="224" name="Line 16"/>
          <p:cNvSpPr/>
          <p:nvPr/>
        </p:nvSpPr>
        <p:spPr>
          <a:xfrm>
            <a:off x="-287079" y="0"/>
            <a:ext cx="369" cy="446"/>
          </a:xfrm>
          <a:prstGeom prst="line">
            <a:avLst/>
          </a:prstGeom>
          <a:ln w="3816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ctr"/>
            <a:endParaRPr lang="en-US" sz="2200" b="1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E5C8F7-672C-1929-5996-C647C2D6C45E}"/>
              </a:ext>
            </a:extLst>
          </p:cNvPr>
          <p:cNvGrpSpPr/>
          <p:nvPr/>
        </p:nvGrpSpPr>
        <p:grpSpPr>
          <a:xfrm>
            <a:off x="486027" y="317635"/>
            <a:ext cx="3028985" cy="1743431"/>
            <a:chOff x="486027" y="317635"/>
            <a:chExt cx="3028985" cy="1743431"/>
          </a:xfrm>
        </p:grpSpPr>
        <p:sp>
          <p:nvSpPr>
            <p:cNvPr id="213" name="CustomShape 5"/>
            <p:cNvSpPr/>
            <p:nvPr/>
          </p:nvSpPr>
          <p:spPr>
            <a:xfrm>
              <a:off x="486027" y="317635"/>
              <a:ext cx="3028985" cy="1743431"/>
            </a:xfrm>
            <a:prstGeom prst="rect">
              <a:avLst/>
            </a:prstGeom>
            <a:solidFill>
              <a:srgbClr val="5EB91E">
                <a:alpha val="10000"/>
              </a:srgbClr>
            </a:solidFill>
            <a:ln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algn="ctr"/>
              <a:endParaRPr lang="en-US" sz="2200" b="1"/>
            </a:p>
          </p:txBody>
        </p:sp>
        <p:sp>
          <p:nvSpPr>
            <p:cNvPr id="214" name="CustomShape 6"/>
            <p:cNvSpPr/>
            <p:nvPr/>
          </p:nvSpPr>
          <p:spPr>
            <a:xfrm>
              <a:off x="567163" y="1049200"/>
              <a:ext cx="2876756" cy="381401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Normal (Silence) - NS</a:t>
              </a: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15" name="CustomShape 7"/>
            <p:cNvSpPr/>
            <p:nvPr/>
          </p:nvSpPr>
          <p:spPr>
            <a:xfrm>
              <a:off x="567163" y="512333"/>
              <a:ext cx="2876756" cy="381799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pc="-1" dirty="0">
                  <a:solidFill>
                    <a:srgbClr val="000000"/>
                  </a:solidFill>
                  <a:latin typeface="Time New Roman"/>
                </a:rPr>
                <a:t>Spiritual Meditation</a:t>
              </a:r>
              <a:endParaRPr lang="en-US" sz="2200" b="1" strike="noStrike" spc="-1" dirty="0">
                <a:latin typeface="Arial"/>
              </a:endParaRPr>
            </a:p>
          </p:txBody>
        </p:sp>
        <p:sp>
          <p:nvSpPr>
            <p:cNvPr id="216" name="CustomShape 8"/>
            <p:cNvSpPr/>
            <p:nvPr/>
          </p:nvSpPr>
          <p:spPr>
            <a:xfrm>
              <a:off x="567163" y="1566499"/>
              <a:ext cx="2876756" cy="381401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Music - M</a:t>
              </a:r>
              <a:endParaRPr lang="en-US" sz="2200" b="1" strike="noStrike" spc="-1">
                <a:latin typeface="Arial"/>
              </a:endParaRPr>
            </a:p>
          </p:txBody>
        </p:sp>
      </p:grpSp>
      <p:sp>
        <p:nvSpPr>
          <p:cNvPr id="217" name="CustomShape 9"/>
          <p:cNvSpPr/>
          <p:nvPr/>
        </p:nvSpPr>
        <p:spPr>
          <a:xfrm>
            <a:off x="915997" y="2399197"/>
            <a:ext cx="2169043" cy="767987"/>
          </a:xfrm>
          <a:prstGeom prst="rect">
            <a:avLst/>
          </a:prstGeom>
          <a:solidFill>
            <a:srgbClr val="FFF5CE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trike="noStrike" spc="-1" dirty="0">
                <a:solidFill>
                  <a:srgbClr val="000000"/>
                </a:solidFill>
                <a:latin typeface="Time New Roman"/>
                <a:ea typeface="DejaVu Sans"/>
              </a:rPr>
              <a:t>Validation of Recorded Signals</a:t>
            </a:r>
            <a:endParaRPr lang="en-US" sz="2200" b="1" strike="noStrike" spc="-1" dirty="0">
              <a:latin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490EB6-3BB8-DEE0-1E67-725FC274398B}"/>
              </a:ext>
            </a:extLst>
          </p:cNvPr>
          <p:cNvGrpSpPr/>
          <p:nvPr/>
        </p:nvGrpSpPr>
        <p:grpSpPr>
          <a:xfrm>
            <a:off x="4141812" y="317635"/>
            <a:ext cx="2417391" cy="3260413"/>
            <a:chOff x="4205022" y="291379"/>
            <a:chExt cx="2417391" cy="3260413"/>
          </a:xfrm>
        </p:grpSpPr>
        <p:sp>
          <p:nvSpPr>
            <p:cNvPr id="218" name="CustomShape 10"/>
            <p:cNvSpPr/>
            <p:nvPr/>
          </p:nvSpPr>
          <p:spPr>
            <a:xfrm>
              <a:off x="4205022" y="291379"/>
              <a:ext cx="2417391" cy="3260413"/>
            </a:xfrm>
            <a:prstGeom prst="roundRect">
              <a:avLst>
                <a:gd name="adj" fmla="val 16667"/>
              </a:avLst>
            </a:prstGeom>
            <a:solidFill>
              <a:srgbClr val="DEE7E5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Data Augmentation</a:t>
              </a: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19" name="CustomShape 11"/>
            <p:cNvSpPr/>
            <p:nvPr/>
          </p:nvSpPr>
          <p:spPr>
            <a:xfrm>
              <a:off x="4408585" y="1100467"/>
              <a:ext cx="2016062" cy="466028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575"/>
                </a:spcBef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Gaussian noise</a:t>
              </a: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20" name="CustomShape 12"/>
            <p:cNvSpPr/>
            <p:nvPr/>
          </p:nvSpPr>
          <p:spPr>
            <a:xfrm>
              <a:off x="4408585" y="1644463"/>
              <a:ext cx="2016062" cy="466028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Time stretching</a:t>
              </a: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21" name="CustomShape 13"/>
            <p:cNvSpPr/>
            <p:nvPr/>
          </p:nvSpPr>
          <p:spPr>
            <a:xfrm>
              <a:off x="4408585" y="2166183"/>
              <a:ext cx="2016062" cy="466028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Pitch shifting</a:t>
              </a: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22" name="CustomShape 14"/>
            <p:cNvSpPr/>
            <p:nvPr/>
          </p:nvSpPr>
          <p:spPr>
            <a:xfrm>
              <a:off x="4408585" y="2734238"/>
              <a:ext cx="2016062" cy="685230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Frequency &amp; time masking</a:t>
              </a:r>
              <a:endParaRPr lang="en-US" sz="2200" b="1" strike="noStrike" spc="-1">
                <a:latin typeface="Arial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2A2DA46-81F5-B2AB-A731-B68942F2D3D4}"/>
              </a:ext>
            </a:extLst>
          </p:cNvPr>
          <p:cNvGrpSpPr/>
          <p:nvPr/>
        </p:nvGrpSpPr>
        <p:grpSpPr>
          <a:xfrm>
            <a:off x="8968719" y="320739"/>
            <a:ext cx="2049385" cy="3260415"/>
            <a:chOff x="8949975" y="140789"/>
            <a:chExt cx="2049385" cy="3633769"/>
          </a:xfrm>
        </p:grpSpPr>
        <p:sp>
          <p:nvSpPr>
            <p:cNvPr id="209" name="CustomShape 1"/>
            <p:cNvSpPr/>
            <p:nvPr/>
          </p:nvSpPr>
          <p:spPr>
            <a:xfrm>
              <a:off x="8949975" y="140789"/>
              <a:ext cx="2049385" cy="3633769"/>
            </a:xfrm>
            <a:prstGeom prst="roundRect">
              <a:avLst>
                <a:gd name="adj" fmla="val 16667"/>
              </a:avLst>
            </a:prstGeom>
            <a:solidFill>
              <a:srgbClr val="B3CAC7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Feature Extraction</a:t>
              </a: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56" name="CustomShape 48"/>
            <p:cNvSpPr/>
            <p:nvPr/>
          </p:nvSpPr>
          <p:spPr>
            <a:xfrm rot="16200000" flipH="1" flipV="1">
              <a:off x="8190887" y="2205427"/>
              <a:ext cx="2423701" cy="391549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MFCC 0-12</a:t>
              </a: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57" name="CustomShape 49"/>
            <p:cNvSpPr/>
            <p:nvPr/>
          </p:nvSpPr>
          <p:spPr>
            <a:xfrm rot="16200000" flipH="1" flipV="1">
              <a:off x="8659921" y="2208337"/>
              <a:ext cx="2420137" cy="389738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>
                  <a:solidFill>
                    <a:srgbClr val="000000"/>
                  </a:solidFill>
                  <a:latin typeface="Time New Roman"/>
                  <a:ea typeface="DejaVu Sans"/>
                </a:rPr>
                <a:t>ZCR + RMS</a:t>
              </a:r>
              <a:endParaRPr lang="en-US" sz="2200" b="1" strike="noStrike" spc="-1">
                <a:latin typeface="Arial"/>
              </a:endParaRPr>
            </a:p>
          </p:txBody>
        </p:sp>
        <p:sp>
          <p:nvSpPr>
            <p:cNvPr id="258" name="CustomShape 50"/>
            <p:cNvSpPr/>
            <p:nvPr/>
          </p:nvSpPr>
          <p:spPr>
            <a:xfrm rot="16200000" flipH="1" flipV="1">
              <a:off x="9103324" y="2038033"/>
              <a:ext cx="2707951" cy="63726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200" b="1" strike="noStrike" spc="-1" dirty="0">
                  <a:solidFill>
                    <a:srgbClr val="000000"/>
                  </a:solidFill>
                  <a:latin typeface="Time New Roman"/>
                  <a:ea typeface="DejaVu Sans"/>
                </a:rPr>
                <a:t>Wavelet coefficients 0-10</a:t>
              </a:r>
              <a:endParaRPr lang="en-US" sz="2200" b="1" strike="noStrike" spc="-1" dirty="0">
                <a:latin typeface="Arial"/>
              </a:endParaRPr>
            </a:p>
          </p:txBody>
        </p:sp>
      </p:grpSp>
      <p:sp>
        <p:nvSpPr>
          <p:cNvPr id="259" name="CustomShape 51"/>
          <p:cNvSpPr/>
          <p:nvPr/>
        </p:nvSpPr>
        <p:spPr>
          <a:xfrm rot="16200000" flipV="1">
            <a:off x="5509612" y="1687417"/>
            <a:ext cx="3492252" cy="533174"/>
          </a:xfrm>
          <a:prstGeom prst="rect">
            <a:avLst/>
          </a:prstGeom>
          <a:solidFill>
            <a:srgbClr val="FFF5CE"/>
          </a:solidFill>
          <a:ln w="38160">
            <a:solidFill>
              <a:srgbClr val="FFBF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720" tIns="63720" rIns="108720" bIns="63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>
                <a:solidFill>
                  <a:srgbClr val="000000"/>
                </a:solidFill>
                <a:latin typeface="Time New Roman"/>
                <a:ea typeface="DejaVu Sans"/>
              </a:rPr>
              <a:t>S</a:t>
            </a:r>
            <a:r>
              <a:rPr lang="en-US" sz="2200" b="1" strike="noStrike" spc="-1" dirty="0">
                <a:solidFill>
                  <a:srgbClr val="000000"/>
                </a:solidFill>
                <a:latin typeface="Time New Roman"/>
                <a:ea typeface="DejaVu Sans"/>
              </a:rPr>
              <a:t>MSAT ATS Encoder (Fig. 5a)</a:t>
            </a:r>
            <a:endParaRPr lang="en-US" sz="2200" b="1" strike="noStrike" spc="-1" dirty="0">
              <a:latin typeface="Arial"/>
            </a:endParaRPr>
          </a:p>
        </p:txBody>
      </p:sp>
      <p:sp>
        <p:nvSpPr>
          <p:cNvPr id="260" name="CustomShape 52"/>
          <p:cNvSpPr/>
          <p:nvPr/>
        </p:nvSpPr>
        <p:spPr>
          <a:xfrm rot="16200000" flipH="1" flipV="1">
            <a:off x="6624688" y="1642163"/>
            <a:ext cx="3260412" cy="617569"/>
          </a:xfrm>
          <a:prstGeom prst="roundRect">
            <a:avLst>
              <a:gd name="adj" fmla="val 16667"/>
            </a:avLst>
          </a:prstGeom>
          <a:solidFill>
            <a:srgbClr val="DEE7E5"/>
          </a:solidFill>
          <a:ln w="38160">
            <a:solidFill>
              <a:srgbClr val="15846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102600" tIns="57600" rIns="102600" bIns="576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trike="noStrike" spc="-1">
                <a:solidFill>
                  <a:srgbClr val="000000"/>
                </a:solidFill>
                <a:latin typeface="Time New Roman"/>
                <a:ea typeface="DejaVu Sans"/>
              </a:rPr>
              <a:t>Class Encoding [0, 1, 2] </a:t>
            </a:r>
            <a:endParaRPr lang="en-US" sz="2200" b="1" strike="noStrike" spc="-1">
              <a:latin typeface="Arial"/>
            </a:endParaRPr>
          </a:p>
        </p:txBody>
      </p:sp>
      <p:sp>
        <p:nvSpPr>
          <p:cNvPr id="263" name="CustomShape 55"/>
          <p:cNvSpPr/>
          <p:nvPr/>
        </p:nvSpPr>
        <p:spPr>
          <a:xfrm rot="5400000">
            <a:off x="10148222" y="1681313"/>
            <a:ext cx="3115502" cy="533174"/>
          </a:xfrm>
          <a:prstGeom prst="rect">
            <a:avLst/>
          </a:prstGeom>
          <a:solidFill>
            <a:srgbClr val="DEE7E5"/>
          </a:solidFill>
          <a:ln w="38160">
            <a:solidFill>
              <a:srgbClr val="1584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720" tIns="63720" rIns="108720" bIns="6372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865"/>
              </a:spcAft>
            </a:pPr>
            <a:r>
              <a:rPr lang="en-US" sz="2200" b="1" strike="noStrike" spc="-1" dirty="0">
                <a:solidFill>
                  <a:srgbClr val="000000"/>
                </a:solidFill>
                <a:latin typeface="Time New Roman"/>
                <a:ea typeface="DejaVu Sans"/>
              </a:rPr>
              <a:t>   CAM Classifier (Fig. 6a)</a:t>
            </a:r>
            <a:endParaRPr lang="en-US" sz="2200" b="1" strike="noStrike" spc="-1" dirty="0">
              <a:latin typeface="Arial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5A6FE9F-3D4E-298B-DAE2-3DD8789972B9}"/>
              </a:ext>
            </a:extLst>
          </p:cNvPr>
          <p:cNvCxnSpPr>
            <a:stCxn id="213" idx="1"/>
            <a:endCxn id="217" idx="1"/>
          </p:cNvCxnSpPr>
          <p:nvPr/>
        </p:nvCxnSpPr>
        <p:spPr>
          <a:xfrm rot="10800000" flipH="1" flipV="1">
            <a:off x="486027" y="1189351"/>
            <a:ext cx="429970" cy="1593840"/>
          </a:xfrm>
          <a:prstGeom prst="bentConnector3">
            <a:avLst>
              <a:gd name="adj1" fmla="val -53166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EB1CE39-16F4-7415-3C29-7C5591D514C6}"/>
              </a:ext>
            </a:extLst>
          </p:cNvPr>
          <p:cNvCxnSpPr>
            <a:stCxn id="217" idx="3"/>
            <a:endCxn id="218" idx="1"/>
          </p:cNvCxnSpPr>
          <p:nvPr/>
        </p:nvCxnSpPr>
        <p:spPr>
          <a:xfrm flipV="1">
            <a:off x="3085040" y="1947842"/>
            <a:ext cx="1056772" cy="835349"/>
          </a:xfrm>
          <a:prstGeom prst="bentConnector3">
            <a:avLst>
              <a:gd name="adj1" fmla="val 61067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5EDAC1-68B5-0D0B-A99E-A9B9FD2B1BE9}"/>
              </a:ext>
            </a:extLst>
          </p:cNvPr>
          <p:cNvCxnSpPr>
            <a:cxnSpLocks/>
            <a:stCxn id="218" idx="3"/>
            <a:endCxn id="259" idx="2"/>
          </p:cNvCxnSpPr>
          <p:nvPr/>
        </p:nvCxnSpPr>
        <p:spPr>
          <a:xfrm>
            <a:off x="6559203" y="1947842"/>
            <a:ext cx="429948" cy="6162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4B855D-3F53-9B19-4C3B-C25DA5991846}"/>
              </a:ext>
            </a:extLst>
          </p:cNvPr>
          <p:cNvCxnSpPr>
            <a:cxnSpLocks/>
            <a:stCxn id="259" idx="0"/>
            <a:endCxn id="260" idx="2"/>
          </p:cNvCxnSpPr>
          <p:nvPr/>
        </p:nvCxnSpPr>
        <p:spPr>
          <a:xfrm flipV="1">
            <a:off x="7522325" y="1950948"/>
            <a:ext cx="423785" cy="3056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1CC127-9E20-075C-345C-04E1A480CB3C}"/>
              </a:ext>
            </a:extLst>
          </p:cNvPr>
          <p:cNvCxnSpPr>
            <a:stCxn id="260" idx="0"/>
            <a:endCxn id="209" idx="1"/>
          </p:cNvCxnSpPr>
          <p:nvPr/>
        </p:nvCxnSpPr>
        <p:spPr>
          <a:xfrm flipV="1">
            <a:off x="8563679" y="1950947"/>
            <a:ext cx="405040" cy="1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F882DE-DDBB-EA1C-EA46-6970C42365A4}"/>
              </a:ext>
            </a:extLst>
          </p:cNvPr>
          <p:cNvCxnSpPr>
            <a:stCxn id="209" idx="3"/>
            <a:endCxn id="263" idx="2"/>
          </p:cNvCxnSpPr>
          <p:nvPr/>
        </p:nvCxnSpPr>
        <p:spPr>
          <a:xfrm flipV="1">
            <a:off x="11018104" y="1947900"/>
            <a:ext cx="421282" cy="3047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307EDCAC-F9A4-E6C8-F24C-B3AAE02B8E96}"/>
              </a:ext>
            </a:extLst>
          </p:cNvPr>
          <p:cNvSpPr/>
          <p:nvPr/>
        </p:nvSpPr>
        <p:spPr>
          <a:xfrm>
            <a:off x="4206566" y="1283693"/>
            <a:ext cx="4298760" cy="10972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F0343260-C4FD-3322-8F8F-BD5FD4B683B8}"/>
              </a:ext>
            </a:extLst>
          </p:cNvPr>
          <p:cNvSpPr/>
          <p:nvPr/>
        </p:nvSpPr>
        <p:spPr>
          <a:xfrm>
            <a:off x="2294966" y="727133"/>
            <a:ext cx="4235760" cy="33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Acoustic Time Series Signal Acquisition Device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4" name="Picture 2_1" descr="Free Microphone SVG, PNG Icon, Symbol. Download Image.">
            <a:extLst>
              <a:ext uri="{FF2B5EF4-FFF2-40B4-BE49-F238E27FC236}">
                <a16:creationId xmlns:a16="http://schemas.microsoft.com/office/drawing/2014/main" id="{F9892CBB-ABCF-07D5-688D-7D8E352693C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059526" y="1118093"/>
            <a:ext cx="1097280" cy="1097280"/>
          </a:xfrm>
          <a:prstGeom prst="rect">
            <a:avLst/>
          </a:prstGeom>
          <a:ln>
            <a:noFill/>
          </a:ln>
        </p:spPr>
      </p:pic>
      <p:pic>
        <p:nvPicPr>
          <p:cNvPr id="5" name="Picture 4_1" descr="Stethoscope&quot; Icon - Download for free – Iconduck">
            <a:extLst>
              <a:ext uri="{FF2B5EF4-FFF2-40B4-BE49-F238E27FC236}">
                <a16:creationId xmlns:a16="http://schemas.microsoft.com/office/drawing/2014/main" id="{F7AF9658-8D6A-78E9-5785-6505094471F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213326" y="1210253"/>
            <a:ext cx="912600" cy="913320"/>
          </a:xfrm>
          <a:prstGeom prst="rect">
            <a:avLst/>
          </a:prstGeom>
          <a:ln>
            <a:noFill/>
          </a:ln>
        </p:spPr>
      </p:pic>
      <p:pic>
        <p:nvPicPr>
          <p:cNvPr id="6" name="Picture 6_1" descr="Sound card - Free electronics icons">
            <a:extLst>
              <a:ext uri="{FF2B5EF4-FFF2-40B4-BE49-F238E27FC236}">
                <a16:creationId xmlns:a16="http://schemas.microsoft.com/office/drawing/2014/main" id="{FF3EC1E9-8567-EBFB-3A25-0DB046A6E76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413206" y="1183973"/>
            <a:ext cx="913320" cy="913320"/>
          </a:xfrm>
          <a:prstGeom prst="rect">
            <a:avLst/>
          </a:prstGeom>
          <a:ln>
            <a:noFill/>
          </a:ln>
        </p:spPr>
      </p:pic>
      <p:pic>
        <p:nvPicPr>
          <p:cNvPr id="7" name="Picture 8_1" descr="Laptop - Free computer icons">
            <a:extLst>
              <a:ext uri="{FF2B5EF4-FFF2-40B4-BE49-F238E27FC236}">
                <a16:creationId xmlns:a16="http://schemas.microsoft.com/office/drawing/2014/main" id="{B3A44618-9D26-4706-5834-943D9550BDC8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5566646" y="1210253"/>
            <a:ext cx="913320" cy="913320"/>
          </a:xfrm>
          <a:prstGeom prst="rect">
            <a:avLst/>
          </a:prstGeom>
          <a:ln>
            <a:noFill/>
          </a:ln>
        </p:spPr>
      </p:pic>
      <p:sp>
        <p:nvSpPr>
          <p:cNvPr id="8" name="CustomShape 3">
            <a:extLst>
              <a:ext uri="{FF2B5EF4-FFF2-40B4-BE49-F238E27FC236}">
                <a16:creationId xmlns:a16="http://schemas.microsoft.com/office/drawing/2014/main" id="{DD435F0A-8A03-D2B7-D8C3-BFBF24185C1D}"/>
              </a:ext>
            </a:extLst>
          </p:cNvPr>
          <p:cNvSpPr/>
          <p:nvPr/>
        </p:nvSpPr>
        <p:spPr>
          <a:xfrm>
            <a:off x="7000886" y="618053"/>
            <a:ext cx="217512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Normal (Silence) - NS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41F9AC7E-0118-DF9F-3002-C079667D3E4E}"/>
              </a:ext>
            </a:extLst>
          </p:cNvPr>
          <p:cNvSpPr/>
          <p:nvPr/>
        </p:nvSpPr>
        <p:spPr>
          <a:xfrm>
            <a:off x="7000886" y="1352093"/>
            <a:ext cx="147060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Music - M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5">
            <a:extLst>
              <a:ext uri="{FF2B5EF4-FFF2-40B4-BE49-F238E27FC236}">
                <a16:creationId xmlns:a16="http://schemas.microsoft.com/office/drawing/2014/main" id="{0647C605-F51C-FC27-BA79-596AE383020D}"/>
              </a:ext>
            </a:extLst>
          </p:cNvPr>
          <p:cNvSpPr/>
          <p:nvPr/>
        </p:nvSpPr>
        <p:spPr>
          <a:xfrm>
            <a:off x="6982526" y="2115293"/>
            <a:ext cx="2432160" cy="55548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Tilawat-e-QuranPak -TQ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" name="CustomShape 6">
            <a:extLst>
              <a:ext uri="{FF2B5EF4-FFF2-40B4-BE49-F238E27FC236}">
                <a16:creationId xmlns:a16="http://schemas.microsoft.com/office/drawing/2014/main" id="{9E4B1ED2-8823-99D3-D0CF-CEF5E3A5BF69}"/>
              </a:ext>
            </a:extLst>
          </p:cNvPr>
          <p:cNvSpPr/>
          <p:nvPr/>
        </p:nvSpPr>
        <p:spPr>
          <a:xfrm flipV="1">
            <a:off x="6481046" y="903173"/>
            <a:ext cx="509400" cy="760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CustomShape 7">
            <a:extLst>
              <a:ext uri="{FF2B5EF4-FFF2-40B4-BE49-F238E27FC236}">
                <a16:creationId xmlns:a16="http://schemas.microsoft.com/office/drawing/2014/main" id="{0F9C2DEA-C911-E27D-187F-171A48EF54E0}"/>
              </a:ext>
            </a:extLst>
          </p:cNvPr>
          <p:cNvSpPr/>
          <p:nvPr/>
        </p:nvSpPr>
        <p:spPr>
          <a:xfrm flipV="1">
            <a:off x="6481046" y="1640453"/>
            <a:ext cx="51840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CustomShape 8">
            <a:extLst>
              <a:ext uri="{FF2B5EF4-FFF2-40B4-BE49-F238E27FC236}">
                <a16:creationId xmlns:a16="http://schemas.microsoft.com/office/drawing/2014/main" id="{7C01E805-8D0A-DA89-0D8C-9B43D53E92F0}"/>
              </a:ext>
            </a:extLst>
          </p:cNvPr>
          <p:cNvSpPr/>
          <p:nvPr/>
        </p:nvSpPr>
        <p:spPr>
          <a:xfrm>
            <a:off x="6481046" y="1667453"/>
            <a:ext cx="518400" cy="73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tailEnd type="triangle" w="med" len="med"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CustomShape 10">
            <a:extLst>
              <a:ext uri="{FF2B5EF4-FFF2-40B4-BE49-F238E27FC236}">
                <a16:creationId xmlns:a16="http://schemas.microsoft.com/office/drawing/2014/main" id="{357B4781-5E05-727D-A1CC-5EC204D2F3DA}"/>
              </a:ext>
            </a:extLst>
          </p:cNvPr>
          <p:cNvSpPr/>
          <p:nvPr/>
        </p:nvSpPr>
        <p:spPr>
          <a:xfrm>
            <a:off x="9443486" y="566573"/>
            <a:ext cx="246600" cy="1932120"/>
          </a:xfrm>
          <a:prstGeom prst="rightBrace">
            <a:avLst>
              <a:gd name="adj1" fmla="val 8333"/>
              <a:gd name="adj2" fmla="val 50000"/>
            </a:avLst>
          </a:prstGeom>
          <a:noFill/>
          <a:ln/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51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395</Words>
  <Application>Microsoft Office PowerPoint</Application>
  <PresentationFormat>Widescreen</PresentationFormat>
  <Paragraphs>161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Symbol</vt:lpstr>
      <vt:lpstr>Time New Roman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Moorche</dc:creator>
  <dc:description/>
  <cp:lastModifiedBy>Ahmad Suleman</cp:lastModifiedBy>
  <cp:revision>36</cp:revision>
  <dcterms:created xsi:type="dcterms:W3CDTF">2025-03-25T15:53:37Z</dcterms:created>
  <dcterms:modified xsi:type="dcterms:W3CDTF">2025-04-11T04:34:25Z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MRT www.Win2Farsi.com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</vt:i4>
  </property>
</Properties>
</file>